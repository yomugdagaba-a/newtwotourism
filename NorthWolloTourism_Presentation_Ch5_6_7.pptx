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73152" cy="663854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6B6D4"/>
                </a:solidFill>
              </a:rPr>
              <a:t>Final Year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North Wollo Tourism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AD4F5"/>
                </a:solidFill>
              </a:rPr>
              <a:t>Chapters 5, 6 &amp; 7 — Object Design, Implementation &amp; Testing,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North Wollo Tourism Management System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Presentation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Chapter 5 — Object Design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Object Design Activities &amp; Principles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20 Class Interface Specifications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Design Patterns Applied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Class Associations &amp; Domain Model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Chapter 6 — Implementation &amp; Testing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Technology Stack &amp; Implementation Phases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Key Modules Implemented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6-Level Testing Strategy (225 Tests)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User Manual for All Roles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Chapter 7 — Conclusion &amp; Recommendations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Objectives Fulfilled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Future Enhancements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112745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6B6D4"/>
                </a:solidFill>
              </a:rPr>
              <a:t>CHAPTER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Object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AD4F5"/>
                </a:solidFill>
              </a:rPr>
              <a:t>Class Interface Specifications, Design Patterns &amp; Associations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5.1 Object Design Activities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Reusing Existing Components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Prisma ORM → Repository pattern for all data access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bcryptjs → Password hashing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jsonwebtoken → JWT signing and verification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Brevo (sib-api-v3-sdk) → Transactional email delivery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Zustand → Frontend global state management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Specifying Class Interfaces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20 major class interfaces fully specified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Each with: Operations, Inputs, Outputs, Pre/Post-conditions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Identifying Design Patterns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Service Layer, Repository, Facade, State Machine, Observer, Strategy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Specifying Class Associations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Multiplicity, navigability, referential integrity (CASCADE / SET NULL)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5.1.2 Design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229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Principle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Application in This System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Single Responsibility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Controllers handle HTTP; Services handle business logic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Open/Closed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New entities added without modifying existing modules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Dependency Inversion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Services depend on data access abstraction, not raw drivers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Information Hiding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Password hashing, token signing hidden behind public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Separation of Concerns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Auth, validation, audit as cross-cutting middleware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Fail-Safe Defaults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Security checks default to denial; audit failures silently absorbed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Design Patterns Applied Across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Service Layer Pattern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All 14 service modules encapsulate business logic — controllers never contain logic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Repository Pattern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Prisma ORM abstracts all data access — services never write raw SQL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Facade Pattern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Administrative Service provides unified interface over multiple subsystems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State Machine Pattern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Booking Lifecycle Service governs 6-stage booking workflow with strict transitions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Observer Pattern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Audit Middleware records all events without coupling to business logic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Strategy Pattern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Authentication Service implements progressive login delay (0–30 seconds)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DTO Adapter Pattern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Road &amp; Horse Service present domain-friendly data decoupled from DB schema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Chain of Responsibility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Middleware pipeline: Auth → Validation → Rate Limit → Controller → Error Handler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5.3 Class Interfaces — 20 Modules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99669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200400"/>
                <a:gridCol w="4114800"/>
                <a:gridCol w="2286000"/>
              </a:tblGrid>
              <a:tr h="24384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Pattern(s)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Authentication Service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Service Layer, Strategy, Template Method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Service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Tourism Place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Service Layer, Repository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Hotel Management Service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Service Layer, Repository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Service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Hotel Booking Lifecycle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Service Layer, State Machine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Administrative Management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Facade, Service Layer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Service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Audit Logging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Observer, Service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Cross-Cutting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Road Information Service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Service Layer, DTO Adapter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Service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Horse Transport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Service Layer, DTO Adapter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Language Guider Service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Service Layer, Repository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Service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Ratings &amp; Reviews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Service Layer, Repository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Geographic Map Point Service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Service Layer, Repository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Service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Transactional Email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Facade, Template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Cross-Cutting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Auth &amp; Authorization Middleware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Chain of Responsibility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Middleware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Input Validation Middleware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Chain of Responsibility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Middleware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Global Exception Handler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Chain of Responsibility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Middleware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Security Headers Middleware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Chain of Responsibility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Middleware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Audit Observation Middleware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Observer, Decorator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Middleware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Frontend Auth State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Singleton, Observer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Frontend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Frontend HTTP Client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Facade, Proxy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Frontend Service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User Profile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Service Layer, Repository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5.3.1 Authentication Service — Key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Class Invariants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Plaintext passwords NEVER stored — always bcrypt-hashed before persistence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Access tokens maximum lifetime: 15 minutes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Account with active lockout CANNOT authenticate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Core Operations (18 total)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Register User → hashes password, sends OTP, returns token pair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Login → progressive delay (0–30s), locks after 5 failures, IP rate limit 100/hr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Refresh Token → token rotation, old token invalidated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Logout → invalidates ALL active sessions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Initiate Password Reset → returns success regardless of email existence (anti-enumeration)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Confirm Password Reset → validates OTP, max 3 attempts, hashes new password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Verify Email with OTP → max 3 attempts, 15-minute expiry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Get Progressive Delay → Strategy pattern, 0–30 seconds based on failure count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Lock/Unlock Account → sends security alert email to user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5.3.4 Hotel Booking Lifecycle — State Machine (6 Stages)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44582" y="2286000"/>
            <a:ext cx="1463040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4582" y="22860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REQUESTED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3342" y="2606040"/>
            <a:ext cx="3331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376C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86445" y="2286000"/>
            <a:ext cx="1463040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6445" y="22860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OWNER
ACCEPTED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205" y="2606040"/>
            <a:ext cx="3331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376C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8308" y="2286000"/>
            <a:ext cx="1463040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8308" y="22860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COST
PROPOSED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7068" y="2606040"/>
            <a:ext cx="3331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376C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0171" y="2286000"/>
            <a:ext cx="1463040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0171" y="22860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8931" y="2606040"/>
            <a:ext cx="3331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376C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2034" y="2286000"/>
            <a:ext cx="1463040" cy="10972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2034" y="22860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APPROVED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794" y="2606040"/>
            <a:ext cx="3331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376C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53897" y="2286000"/>
            <a:ext cx="146304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53897" y="22860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REJECTED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</a:rPr>
              <a:t>Each transition: validates current state  →  updates DB  →  sends Brevo email  →  pushes WebSocket/SSE notification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206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REJECTED is reachable from any non-terminal state  |  Email failures never roll back state transitions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5.3.4 Booking Lifecycle — Class Invariants &amp; Key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Class Invariants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Status must always be one of 6 valid values — enforced at DB and service level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Proposed cost must be set BEFORE transition to COST_PROPOSED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Payment receipt must be set BEFORE transition to PAID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6 booking status records guaranteed at system startup (auto-initialized)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Security Constraints on Receipt Upload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Max file size: 10 MB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Allowed types: JPEG, PNG, GIF, WebP, PDF only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UUID-based filename prevents path traversal attacks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Message Thread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Client messages, owner messages, and admin messages all supported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All stored chronologically with sender identity and timestamp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Admin Oversight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Admin can view ALL bookings, resolve problem bookings, and message any party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5.3.16 Security Headers Applied to Every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474720"/>
                <a:gridCol w="50292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Header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Protection Against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X-Frame-Options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DENY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Clickjacking attacks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X-Content-Type-Options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nosniff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MIME-type sniffing / content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X-XSS-Protection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1; mode=block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Cross-site scripting (XSS)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Content-Security-Policy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Restricts resource origins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XSS and data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Referrer-Policy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strict-origin-when-cross-origin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Referrer information leakage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Permissions-Policy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Disables sensitive APIs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Unauthorized device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Strict-Transport-Security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max-age=31536000 (production)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Protocol downgrade attacks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5.3.6 Audit Logging Service — Observer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Design Pattern: Observer (passive logging)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Audit Middleware observes every HTTP response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Asynchronously notifies Audit Service after every mutating request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Business logic is NEVER aware of audit logging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Class Invariants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Logging operation NEVER raises an exception — all errors silently caught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Audit entries are APPEND-ONLY — never modified after creation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Captured Information per Entry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User identity (from Auth Middleware)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Action type (derived from HTTP method + URL path)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Entity type and ID (from URL path segments)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Client IP address, browser agent, HTTP status code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Advanced Analytics Operations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Get Audit Statistics — action counts, entity counts, top 10 active users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Find Suspicious Activity — users exceeding threshold (HIGH/MEDIUM suspicion level)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Get High Severity Logs — all DELETE actions classified as high-severity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Clean Up Old Logs — configurable retention period (default 90 days)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5.4 Domain Model — Key Associations &amp; Referential Integrity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1645920"/>
                <a:gridCol w="1463040"/>
                <a:gridCol w="402336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Parent Entity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Child Entity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Multiplicity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On Delete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Rationale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Session Token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 to *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CASCADE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Tokens meaningless without user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Hotel Booking (guest)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 to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CASCADE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Booking history belongs to guest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Hotel (as owner)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 to *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SET NULL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Hotel preserved; ownership cleared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Audit Log 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 to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Logs retained for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Tourism Place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Tourism Image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 to *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CASCADE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Images have no independent existence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Tourism 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Hotel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 to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Hotels are independent entities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Hotel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Hotel Booking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 to *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CASCADE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Bookings tied to hotel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Hotel Booking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Booking 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 to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CASCADE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Messages part of booking thread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Road Info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Horse Service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 to *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SET NULL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Horse services may exist independently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5.4.4 Frontend Architectural Layer Associations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Layer Communication Rules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Page Component → Service Module (unidirectional — components never call backend directly)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Service Module → HTTP Client (all services use shared Facade/Proxy client)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HTTP Client → Auth State Store (reads token; store never aware of client)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Edge Middleware → Cookie (reads auth cookie for server-side route protection)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Frontend Service Modules → Backend Endpoints (16 modules)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Authentication Service → /api/auth/* (registration, login, OTP, password reset)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Booking Service → /api/bookings/* (full lifecycle, messaging, receipt upload)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Tourism Service → /api/tourisms/* (CRUD, images, hero images, search)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Admin Service → /api/admin/* (all administrative operations)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Audit Service → /api/audit/* (logs, statistics, security monitoring)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Auth State Store — Singleton + Observer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Single source of truth for: token, userId, username, role, browsing mode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Auto-refresh: proactively refreshes token when &lt; 5 minutes remaining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Hydration: re-initializes from persistent storage on application mount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112745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6B6D4"/>
                </a:solidFill>
              </a:rPr>
              <a:t>CHAPTER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Implementation &amp;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AD4F5"/>
                </a:solidFill>
              </a:rPr>
              <a:t>Technology Stack, Key Modules, 225 Automated Tests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6.2.1 Implementation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1371600"/>
                <a:gridCol w="5029200"/>
              </a:tblGrid>
              <a:tr h="341376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Backend Runtime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Node.js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20 LTS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JavaScript server runtime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Backend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Express.js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4.x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HTTP routing and middleware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ORM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Prisma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6.x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Type-safe database access &amp; migrations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PostgreSQL (Supabase)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Relational data persistence (22 tables)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Authentication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jsonwebtoken + bcryptjs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9.x/2.x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JWT tokens + password hashing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Brevo (sib-api-v3-sdk)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8.x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Transactional email via REST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File Upload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Multer + Supabase Storage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1.x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Receipt/image upload to cloud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Rate Limiting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express-rate-limit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7.x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IP-level throttling with Redis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Real-time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ws (WebSocket) + SSE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8.x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Instant booking notifications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Next.js + TypeScript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15 / 5.x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React full-stack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Styling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Tailwind CSS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3.x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Utility-first CSS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State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Zustand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4.x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Global authentication state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Maps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Leaflet.js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1.x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Interactive geographic maps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Jest + Supertest + Playwright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29.x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Unit, integration, E2E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6.2.2 Implementation Phases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669280"/>
                <a:gridCol w="41148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Outcome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1. Foundation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DB schema, Prisma migrations, Express server, JWT auth, validation, security headers, error handler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Auth API working; all security headers applied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2. Core Domain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Tourism Place, Hotel, Road, Horse Service, Language Guider, Ratings, Map Point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All 9 domain entity APIs operational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3. Booking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Booking Lifecycle Service (6-stage state machine), Email Service integration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Full booking lifecycle with email notifications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4. Administration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Admin Service, Audit Logging, Audit Middleware, Security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Admin dashboard API and complete audit subsystem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5. Frontend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All Next.js pages, service modules, auth state store, HTTP client, Edge Middleware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Complete UI for all three user roles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6.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Unit, integration, E2E, functional, performance, security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225/225 tests passing; system verified and deployed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6.2.3 Key Modules Implemented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User Authentication Module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6-digit OTP email verification, JWT (15min access / 7h refresh)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Account lockout after 5 failures, progressive delay up to 30 seconds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IP-level rate limiting at 100 requests/hour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Tourism Place Management Module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6 categories: Heritage, Highland, Cavern, Aquatics, Culture, Modern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Multi-image gallery, viewer count tracking, Leaflet map integration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Public search by keyword, category, location (wereda/kebele)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Hotel Booking Module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6-stage finite state machine with email notification at each transition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Payment via receipt image upload (JPEG/PNG/PDF, max 10 MB)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Message thread between client and hotel owner at every stage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Admin Dashboard Module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System-wide statistics: users, hotels, bookings, tourism places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Full management: users, roles, tourism, hotels, roads, horse services, guides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Interactive Map Module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Leaflet.js with TOURISM_PLACE, HOTEL, ROAD point types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Haversine formula for geographic distance (Earth radius 6,371 km)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6.3 Testing Overview — 225 Tests, All Passing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2286000"/>
                <a:gridCol w="3200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Tests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Unit Testing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Jest (mocked DB)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48/48 PASS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Integration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Jest + Supertest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141/141 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End-to-End / System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Playwright (Chromium)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36/36 PASS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Functional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Supertest (black-box)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Covered in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Performance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Manual benchmarks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8 endpoints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All within targets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Manual + header inspection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15 scenarios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All 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225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225/225 PASS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6.3.2 Selected Unit Test Cases (48 Total)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5760720"/>
                <a:gridCol w="2286000"/>
              </a:tblGrid>
              <a:tr h="341376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Test ID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Service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Test Case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UT-01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Authentication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Register with duplicate username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UT-02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Login with correct credentials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UT-03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Authentication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Account lockout after 5 failures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UT-04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OTP invalidated after 3 failed attempts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UT-05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Authentication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Progressive delay at 2 prior failures → 1s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UT-07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Progressive delay at 7+ failures → 30s 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UT-08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Booking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Accept booking already OWNER_ACCEPTED → error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UT-09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Booking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Upload receipt when COST_PROPOSED → PAID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UT-10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Booking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Approve booking when REQUESTED → error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UT-11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Ratings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Submit rating value of 6 →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UT-13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Map Points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Haversine: identical coordinates → 0.0 km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UT-14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Map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Haversine: Woldia to Lalibela → ~131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UT-15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Tourism Place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Public search excludes BLOCKED places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UT-16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Audit Logging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DB error during logging → no exception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6.3.3 Selected Integration Test Cases (141 Total)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576072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Test ID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Test Case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IT-01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Authentication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Full registration and verification cycle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IT-02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Token refresh 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IT-03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Authentication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Logout invalidates session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IT-04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Booking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Full booking lifecycle (REQUESTED → APPROVED)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IT-05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Booking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Email notifications at each transition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IT-06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Administration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Role grant enables access to owner endpoints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IT-07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Tourism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Image ordering after setting main image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IT-08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Hotel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Cascade delete: hotel → all bookings deleted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IT-09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Ratings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Upsert behavior: resubmit updates existing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IT-10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Audit entry created on CREATE operation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IT-11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Authentication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Account lockout persists after correct credentials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IT-12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Road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Horse services linked to road returned correctly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IT-13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Booking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Client retrieves own bookings with CLIENT token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6.3.7 Security Test Results — OWASP Top 10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200400"/>
                <a:gridCol w="3931920"/>
                <a:gridCol w="3200400"/>
              </a:tblGrid>
              <a:tr h="341376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Test ID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Test Case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Attack Vector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SEC-01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IP brute force prevention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100+ login attempts from same IP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HTTP 429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SEC-02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Account lockout after 5 failures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Credential stuffing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Locked + alert email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SEC-03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Tampered token payload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Token forgery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HTTP 401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SEC-04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Expired access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Session replay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HTTP 401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SEC-05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OTP brute force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OTP guessing (3 attempts)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OTP invalidated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SEC-06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OTP resend flooding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Spam within 60-second cooldown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HTTP 400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SEC-07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SQL injection via search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Malicious string in search param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Parameterized queries block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SEC-08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Cross-Site Scripting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Script tags in input fields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CSP header blocks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SEC-09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Clickjacking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Iframe embedding attempt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X-Frame-Options: DENY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SEC-10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Cross-origin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Request from unauthorized origin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CORS policy rejects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SEC-11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Vertical privilege escalation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CLIENT token on ADMIN endpoint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HTTP 403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SEC-12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Horizontal privilege escalation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Different owner's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HTTP 403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SEC-14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User enumeration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Password reset with unknown email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HTTP 200 generic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SEC-15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Refresh token after 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Session hijacking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HTTP 401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6.3.6 Performance Test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645920"/>
                <a:gridCol w="1645920"/>
                <a:gridCol w="356616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Measured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Public tourism search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&lt; 300 ms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~180 ms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Tourism place detail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&lt; 200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~120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Active hero images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&lt; 100 ms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~45 ms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User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&lt; 400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~280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Hotel listing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&lt; 200 ms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~140 ms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Map points listing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&lt; 150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~90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Admin dashboard stats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&lt; 300 ms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~210 ms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Health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&lt; 20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~5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PASS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6.4 User Manual — Public User &amp; Registered 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Public User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Homepage: hero carousel, keyword search, category filters (6 types), top 10 featured places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Tourism Detail: image gallery, description, Leaflet map, road distances (car/foot/horse/plane)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Horse services, language guides, nearby hotels, ratings all on detail page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Register: fill form → receive 6-digit OTP → verify → account activated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Password Reset: enter email → OTP (10 min, max 3 attempts) → set new password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Registered Client (Tourist)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Book Hotel: select dates, guests, rooms, special requests → status: REQUESTED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REQUESTED → wait for owner | OWNER_ACCEPTED → wait for cost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COST_PROPOSED → upload receipt (image/PDF, max 10 MB)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PAID → wait for approval | APPROVED → proceed | REJECTED → review reason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Messages: send/receive at any booking stage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Report Problem: flag booking for admin review with description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Ratings: 1–5 stars + optional comment; one per entity; resubmit updates existing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6.4 User Manual — Hotel Owner &amp; Administrator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Hotel Owner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Mode Toggle: switch between CLIENT and OWNER browsing contexts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Accept Booking: REQUESTED → OWNER_ACCEPTED (guest notified)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Reject Booking: any non-terminal → REJECTED (enter reason, guest notified)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Propose Cost: after accepting → COST_PROPOSED (enter ETB amount)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Approve Booking: after receipt uploaded (PAID) → APPROVED (guest notified)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Messages: reply to guests through booking thread at any stage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Administrator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Dashboard: system-wide counts + quick links to all management sections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User Management: search, edit, activate/deactivate, grant/revoke roles, force-reset passwords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Tourism Management: create/edit/delete places, manage image galleries, hero images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Hotel Management: create/edit/delete, assign/remove owners, toggle active status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Roads: create/edit/delete (type, distances by 4 modes, condition, linked place)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Horse Services &amp; Language Guides: full CRUD management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Audit Logs: filter by user/action/entity/IP/date, view statistics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Security: view login attempts, lock/unlock accounts, identify suspicious activity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112745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6B6D4"/>
                </a:solidFill>
              </a:rPr>
              <a:t>CHAPTER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Conclusion &amp;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AD4F5"/>
                </a:solidFill>
              </a:rPr>
              <a:t>Objectives Fulfilled, Future Enhancements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7.1 Conclusion — All Objectives Fulfilled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Problem Addressed (Chapter 2 Gaps)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✓  No centralized tourism info → 24/7 digital platform with search &amp; discovery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✓  No structured booking → 6-stage state machine with email notifications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✓  Informal guide directory → Formal language guider profiles linked to places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✓  Scattered road info → Structured road records with 4-mode distance data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✓  No security/accountability → Comprehensive audit logging subsystem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Design Decisions Validated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✓  Service Layer → modular, testable, maintainable business logic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✓  State Machine → enforces booking workflow integrity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✓  Observer (Audit) → zero coupling between business logic and logging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✓  Strategy (Progressive Delay) → adaptive brute-force protection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✓  Facade (Admin Service) → unified interface over complex subsystems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Testing Verification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✓  225/225 automated tests passing across 6 testing levels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✓  All 15 security scenarios verified against OWASP Top 10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✓  All 8 performance benchmarks within target response times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7.2 Recommendations — 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Local Payment Gateway Integration (High Priority)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Integrate Chapa and international payment platforms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Eliminate physical receipt upload — fully digital in-app payments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Mobile Application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React Native / Flutter for Android and iOS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GPS-based nearby place discovery, push notifications, offline map caching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Real-Time Notifications (In-App)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WebSocket integration for instant in-application booking status updates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Currently: email-only notifications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Progressive Web Application (PWA)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Offline browsing and background sync for areas with intermittent connectivity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Integration with National Tourism Databases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Ethiopian Tourism Organization and Amhara Regional State Tourism Bureau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Automatic synchronization of officially recognized tourism sites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D4ED8"/>
                </a:solidFill>
              </a:rPr>
              <a:t>Full Tourism Booking Package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Book guiders, hotels, horse services, and other services in one transaction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E293B"/>
                </a:solidFill>
              </a:rPr>
              <a:t>    ▸ Requires payment gateway integration as prerequisite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Appendix — API Operations Summary (106+ Operations)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North Wollo Tourism Management 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5029200"/>
              </a:tblGrid>
              <a:tr h="393895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Operations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Access Level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Authentication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PUBLIC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User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AUTH /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Tourism Places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PUBLIC / ADMIN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Hotel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PUBLIC /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Booking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AUTH / ADMIN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Rating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PUBLIC /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Road &amp; Transport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PUBLIC / ADMIN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Map &amp; 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PUBLIC /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Language Guide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PUBLIC / ADMIN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Security &amp;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AUTH /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Admin Dashboard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ADMIN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93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106+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6B6D4"/>
                </a:solidFill>
              </a:rPr>
              <a:t>System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North Wollo Tourism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926080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AD4F5"/>
                </a:solidFill>
              </a:rPr>
              <a:t>Class Interfaces
Specified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03120"/>
            <a:ext cx="2926080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94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803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AD4F5"/>
                </a:solidFill>
              </a:rPr>
              <a:t>Design Patterns
Applied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103120"/>
            <a:ext cx="2926080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94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225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8803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AD4F5"/>
                </a:solidFill>
              </a:rPr>
              <a:t>Automated Tests
All Passing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2926080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5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106+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09159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AD4F5"/>
                </a:solidFill>
              </a:rPr>
              <a:t>API Operations
Implemented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931920"/>
            <a:ext cx="2926080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402335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709159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AD4F5"/>
                </a:solidFill>
              </a:rPr>
              <a:t>Database
Tables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931920"/>
            <a:ext cx="2926080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02335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709159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AD4F5"/>
                </a:solidFill>
              </a:rPr>
              <a:t>Testing
Levels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Production: https://tourisms-p58j.onrender.com  |  Frontend: https://newtwotourism.vercel.app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